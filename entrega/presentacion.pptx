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B91C1C"/>
                </a:solidFill>
                <a:latin typeface="Calibri"/>
              </a:rPr>
              <a:t>PROYECTOS 2 Y 3 · GRUPO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1F2937"/>
                </a:solidFill>
                <a:latin typeface="Calibri"/>
              </a:rPr>
              <a:t>¿Quién termina hospitalizado por dengue?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6B7280"/>
                </a:solidFill>
                <a:latin typeface="Calibri"/>
              </a:rPr>
              <a:t>Análisis y modelos con 581,071 casos de dengue en Colombia (SIVIGILA, 2022-2025)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429000"/>
            <a:ext cx="1097280" cy="457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Gustavo Restrepo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374903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6B7280"/>
                </a:solidFill>
                <a:latin typeface="Calibri"/>
              </a:rPr>
              <a:t>2380618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Santiago Velásquez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42062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6B7280"/>
                </a:solidFill>
                <a:latin typeface="Calibri"/>
              </a:rPr>
              <a:t>2380378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634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Felipe Calán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46634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6B7280"/>
                </a:solidFill>
                <a:latin typeface="Calibri"/>
              </a:rPr>
              <a:t>2380642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Santiago Hernández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51206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6B7280"/>
                </a:solidFill>
                <a:latin typeface="Calibri"/>
              </a:rPr>
              <a:t>2380367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77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Nicolás Chaparro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55778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6B7280"/>
                </a:solidFill>
                <a:latin typeface="Calibri"/>
              </a:rPr>
              <a:t>2380530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INTRODUCCIÓN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La pregunta y los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Grupo 4 · Dengue en Colombia 2022-2025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6692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•  ¿Se puede anticipar, con lo que se registra al notificar un caso, si el paciente </a:t>
            </a:r>
            <a:r>
              <a:rPr sz="2000" b="1">
                <a:solidFill>
                  <a:srgbClr val="B91C1C"/>
                </a:solidFill>
                <a:latin typeface="Calibri"/>
              </a:rPr>
              <a:t>será hospitalizado</a:t>
            </a:r>
            <a:r>
              <a:rPr sz="2000" b="0">
                <a:solidFill>
                  <a:srgbClr val="1F2937"/>
                </a:solidFill>
                <a:latin typeface="Calibri"/>
              </a:rPr>
              <a:t>?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•  Datos: </a:t>
            </a:r>
            <a:r>
              <a:rPr sz="2000" b="1">
                <a:solidFill>
                  <a:srgbClr val="B91C1C"/>
                </a:solidFill>
                <a:latin typeface="Calibri"/>
              </a:rPr>
              <a:t>581,071 casos</a:t>
            </a:r>
            <a:r>
              <a:rPr sz="2000" b="0">
                <a:solidFill>
                  <a:srgbClr val="1F2937"/>
                </a:solidFill>
                <a:latin typeface="Calibri"/>
              </a:rPr>
              <a:t> de dengue reportados al SIVIGILA entre 2022 y 2025.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•  El </a:t>
            </a:r>
            <a:r>
              <a:rPr sz="2000" b="1">
                <a:solidFill>
                  <a:srgbClr val="B91C1C"/>
                </a:solidFill>
                <a:latin typeface="Calibri"/>
              </a:rPr>
              <a:t>38.4%</a:t>
            </a:r>
            <a:r>
              <a:rPr sz="2000" b="0">
                <a:solidFill>
                  <a:srgbClr val="1F2937"/>
                </a:solidFill>
                <a:latin typeface="Calibri"/>
              </a:rPr>
              <a:t> de los casos fue hospitalizado y el 61.6% no.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•  Uso esperado: </a:t>
            </a:r>
            <a:r>
              <a:rPr sz="2000" b="1">
                <a:solidFill>
                  <a:srgbClr val="B91C1C"/>
                </a:solidFill>
                <a:latin typeface="Calibri"/>
              </a:rPr>
              <a:t>priorizar seguimiento y recursos</a:t>
            </a:r>
            <a:r>
              <a:rPr sz="2000" b="0">
                <a:solidFill>
                  <a:srgbClr val="1F2937"/>
                </a:solidFill>
                <a:latin typeface="Calibri"/>
              </a:rPr>
              <a:t>, no reemplazar la decisión del médico.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69164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B91C1C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783080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Explorar los datos con gráficas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56032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B91C1C"/>
                </a:solidFill>
                <a:latin typeface="Calibri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651760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Limpiar y preparar los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42900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B91C1C"/>
                </a:solidFill>
                <a:latin typeface="Calibri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520440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Modelos que predicen la hospitalización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297679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B91C1C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389119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Agrupar pacientes parecidos (segmentos)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516636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B91C1C"/>
                </a:solidFill>
                <a:latin typeface="Calibri"/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5257800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Conclusiones y recomendaciones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FASE A · EXPLORACIÓN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¿A quién le da dengue y cuándo?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Grupo 4 · Dengue en Colombia 2022-2025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La mayoría de casos son </a:t>
            </a:r>
            <a:r>
              <a:rPr sz="1800" b="1">
                <a:solidFill>
                  <a:srgbClr val="B91C1C"/>
                </a:solidFill>
                <a:latin typeface="Calibri"/>
              </a:rPr>
              <a:t>niños y jóvenes</a:t>
            </a:r>
            <a:r>
              <a:rPr sz="1800" b="0">
                <a:solidFill>
                  <a:srgbClr val="1F2937"/>
                </a:solidFill>
                <a:latin typeface="Calibri"/>
              </a:rPr>
              <a:t>: el pico está entre </a:t>
            </a:r>
            <a:r>
              <a:rPr sz="1800" b="1">
                <a:solidFill>
                  <a:srgbClr val="B91C1C"/>
                </a:solidFill>
                <a:latin typeface="Calibri"/>
              </a:rPr>
              <a:t>5 y 12 años</a:t>
            </a:r>
            <a:r>
              <a:rPr sz="1800" b="0">
                <a:solidFill>
                  <a:srgbClr val="1F2937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Dos temporadas altas al año: </a:t>
            </a:r>
            <a:r>
              <a:rPr sz="1800" b="1">
                <a:solidFill>
                  <a:srgbClr val="B91C1C"/>
                </a:solidFill>
                <a:latin typeface="Calibri"/>
              </a:rPr>
              <a:t>semanas 20-25</a:t>
            </a:r>
            <a:r>
              <a:rPr sz="1800" b="0">
                <a:solidFill>
                  <a:srgbClr val="1F2937"/>
                </a:solidFill>
                <a:latin typeface="Calibri"/>
              </a:rPr>
              <a:t> (mayo-junio) y </a:t>
            </a:r>
            <a:r>
              <a:rPr sz="1800" b="1">
                <a:solidFill>
                  <a:srgbClr val="B91C1C"/>
                </a:solidFill>
                <a:latin typeface="Calibri"/>
              </a:rPr>
              <a:t>48-52</a:t>
            </a:r>
            <a:r>
              <a:rPr sz="1800" b="0">
                <a:solidFill>
                  <a:srgbClr val="1F2937"/>
                </a:solidFill>
                <a:latin typeface="Calibri"/>
              </a:rPr>
              <a:t> (noviembre-diciembre).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Insumos y personal deberían estar listos </a:t>
            </a:r>
            <a:r>
              <a:rPr sz="1800" b="1">
                <a:solidFill>
                  <a:srgbClr val="B91C1C"/>
                </a:solidFill>
                <a:latin typeface="Calibri"/>
              </a:rPr>
              <a:t>antes de la semana 18</a:t>
            </a:r>
            <a:r>
              <a:rPr sz="1800" b="0">
                <a:solidFill>
                  <a:srgbClr val="1F2937"/>
                </a:solidFill>
                <a:latin typeface="Calibri"/>
              </a:rPr>
              <a:t>.</a:t>
            </a:r>
          </a:p>
        </p:txBody>
      </p:sp>
      <p:pic>
        <p:nvPicPr>
          <p:cNvPr id="7" name="Picture 6" descr="fase_a_eda_c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363" y="3099816"/>
            <a:ext cx="9046967" cy="31638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FASE A · EXPLORACIÓN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Distribución de la edad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Grupo 4 · Dengue en Colombia 2022-2025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023360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La mitad de los casos tiene menos de </a:t>
            </a:r>
            <a:r>
              <a:rPr sz="1900" b="1">
                <a:solidFill>
                  <a:srgbClr val="B91C1C"/>
                </a:solidFill>
                <a:latin typeface="Calibri"/>
              </a:rPr>
              <a:t>17 años</a:t>
            </a:r>
            <a:r>
              <a:rPr sz="1900" b="0">
                <a:solidFill>
                  <a:srgbClr val="1F2937"/>
                </a:solidFill>
                <a:latin typeface="Calibri"/>
              </a:rPr>
              <a:t>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El 50% central está entre </a:t>
            </a:r>
            <a:r>
              <a:rPr sz="1900" b="1">
                <a:solidFill>
                  <a:srgbClr val="B91C1C"/>
                </a:solidFill>
                <a:latin typeface="Calibri"/>
              </a:rPr>
              <a:t>9 y 32 años</a:t>
            </a:r>
            <a:r>
              <a:rPr sz="1900" b="0">
                <a:solidFill>
                  <a:srgbClr val="1F2937"/>
                </a:solidFill>
                <a:latin typeface="Calibri"/>
              </a:rPr>
              <a:t>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Los mayores de 65 aparecen como atípicos, pero son </a:t>
            </a:r>
            <a:r>
              <a:rPr sz="1900" b="1">
                <a:solidFill>
                  <a:srgbClr val="B91C1C"/>
                </a:solidFill>
                <a:latin typeface="Calibri"/>
              </a:rPr>
              <a:t>casos reales</a:t>
            </a:r>
            <a:r>
              <a:rPr sz="1900" b="0">
                <a:solidFill>
                  <a:srgbClr val="1F2937"/>
                </a:solidFill>
                <a:latin typeface="Calibri"/>
              </a:rPr>
              <a:t>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Edades de más de 100 años (hasta 122) son </a:t>
            </a:r>
            <a:r>
              <a:rPr sz="1900" b="1">
                <a:solidFill>
                  <a:srgbClr val="B91C1C"/>
                </a:solidFill>
                <a:latin typeface="Calibri"/>
              </a:rPr>
              <a:t>errores de digitación</a:t>
            </a:r>
            <a:r>
              <a:rPr sz="1900" b="0">
                <a:solidFill>
                  <a:srgbClr val="1F2937"/>
                </a:solidFill>
                <a:latin typeface="Calibri"/>
              </a:rPr>
              <a:t>.</a:t>
            </a:r>
          </a:p>
        </p:txBody>
      </p:sp>
      <p:pic>
        <p:nvPicPr>
          <p:cNvPr id="7" name="Picture 6" descr="fase_a_eda_c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549971"/>
            <a:ext cx="6613855" cy="25810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FASE A · EXPLORACIÓN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2024 fue un año de brote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Grupo 4 · Dengue en Colombia 2022-2025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En 2024 se llegó a cerca de </a:t>
            </a:r>
            <a:r>
              <a:rPr sz="1800" b="1">
                <a:solidFill>
                  <a:srgbClr val="B91C1C"/>
                </a:solidFill>
                <a:latin typeface="Calibri"/>
              </a:rPr>
              <a:t>8,800 casos por semana</a:t>
            </a:r>
            <a:r>
              <a:rPr sz="1800" b="0">
                <a:solidFill>
                  <a:srgbClr val="1F2937"/>
                </a:solidFill>
                <a:latin typeface="Calibri"/>
              </a:rPr>
              <a:t> (semanas 15-25).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2022 fue un año bajo; 2025 se fue estabilizando.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El aumento empezó a finales de 2023: hacen falta </a:t>
            </a:r>
            <a:r>
              <a:rPr sz="1800" b="1">
                <a:solidFill>
                  <a:srgbClr val="B91C1C"/>
                </a:solidFill>
                <a:latin typeface="Calibri"/>
              </a:rPr>
              <a:t>alertas tempranas</a:t>
            </a:r>
            <a:r>
              <a:rPr sz="1800" b="0">
                <a:solidFill>
                  <a:srgbClr val="1F2937"/>
                </a:solidFill>
                <a:latin typeface="Calibri"/>
              </a:rPr>
              <a:t>, no promedios de años anteriores.</a:t>
            </a:r>
          </a:p>
        </p:txBody>
      </p:sp>
      <p:pic>
        <p:nvPicPr>
          <p:cNvPr id="7" name="Picture 6" descr="fase_a_eda_c1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932" y="3099816"/>
            <a:ext cx="7497829" cy="31638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FASE A · EXPLORACIÓN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Pocos departamentos concentran los casos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Grupo 4 · Dengue en Colombia 2022-2025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023360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</a:t>
            </a:r>
            <a:r>
              <a:rPr sz="1900" b="1">
                <a:solidFill>
                  <a:srgbClr val="B91C1C"/>
                </a:solidFill>
                <a:latin typeface="Calibri"/>
              </a:rPr>
              <a:t>Valle</a:t>
            </a:r>
            <a:r>
              <a:rPr sz="1900" b="0">
                <a:solidFill>
                  <a:srgbClr val="1F2937"/>
                </a:solidFill>
                <a:latin typeface="Calibri"/>
              </a:rPr>
              <a:t> lidera con cerca de </a:t>
            </a:r>
            <a:r>
              <a:rPr sz="1900" b="1">
                <a:solidFill>
                  <a:srgbClr val="B91C1C"/>
                </a:solidFill>
                <a:latin typeface="Calibri"/>
              </a:rPr>
              <a:t>115,000 casos</a:t>
            </a:r>
            <a:r>
              <a:rPr sz="1900" b="0">
                <a:solidFill>
                  <a:srgbClr val="1F2937"/>
                </a:solidFill>
                <a:latin typeface="Calibri"/>
              </a:rPr>
              <a:t>, más del doble que Santander y Tolima.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El dengue no se reparte igual en el país: hay </a:t>
            </a:r>
            <a:r>
              <a:rPr sz="1900" b="1">
                <a:solidFill>
                  <a:srgbClr val="B91C1C"/>
                </a:solidFill>
                <a:latin typeface="Calibri"/>
              </a:rPr>
              <a:t>focos regionales</a:t>
            </a:r>
            <a:r>
              <a:rPr sz="1900" b="0">
                <a:solidFill>
                  <a:srgbClr val="1F2937"/>
                </a:solidFill>
                <a:latin typeface="Calibri"/>
              </a:rPr>
              <a:t>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Presupuesto y control del mosquito deberían enfocarse en esas regiones.</a:t>
            </a:r>
          </a:p>
        </p:txBody>
      </p:sp>
      <p:pic>
        <p:nvPicPr>
          <p:cNvPr id="7" name="Picture 6" descr="fase_a_eda_c17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77831"/>
            <a:ext cx="6613855" cy="39252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FASE A · EXPLORACIÓN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La hospitalización tiene forma de U según la edad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Grupo 4 · Dengue en Colombia 2022-2025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023360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Se hospitalizan más los </a:t>
            </a:r>
            <a:r>
              <a:rPr sz="1900" b="1">
                <a:solidFill>
                  <a:srgbClr val="B91C1C"/>
                </a:solidFill>
                <a:latin typeface="Calibri"/>
              </a:rPr>
              <a:t>bebés menores de 1 año (48.6%)</a:t>
            </a:r>
            <a:r>
              <a:rPr sz="1900" b="0">
                <a:solidFill>
                  <a:srgbClr val="1F2937"/>
                </a:solidFill>
                <a:latin typeface="Calibri"/>
              </a:rPr>
              <a:t> y los </a:t>
            </a:r>
            <a:r>
              <a:rPr sz="1900" b="1">
                <a:solidFill>
                  <a:srgbClr val="B91C1C"/>
                </a:solidFill>
                <a:latin typeface="Calibri"/>
              </a:rPr>
              <a:t>mayores de 70 (47.6%)</a:t>
            </a:r>
            <a:r>
              <a:rPr sz="1900" b="0">
                <a:solidFill>
                  <a:srgbClr val="1F2937"/>
                </a:solidFill>
                <a:latin typeface="Calibri"/>
              </a:rPr>
              <a:t>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Los adultos de 30 a 49 años son los que menos (30.9%). Promedio: 38.4%.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Los niños de 5 a 12 no son los de más riesgo, pero sí los de </a:t>
            </a:r>
            <a:r>
              <a:rPr sz="1900" b="1">
                <a:solidFill>
                  <a:srgbClr val="B91C1C"/>
                </a:solidFill>
                <a:latin typeface="Calibri"/>
              </a:rPr>
              <a:t>más casos (160 mil)</a:t>
            </a:r>
            <a:r>
              <a:rPr sz="1900" b="0">
                <a:solidFill>
                  <a:srgbClr val="1F2937"/>
                </a:solidFill>
                <a:latin typeface="Calibri"/>
              </a:rPr>
              <a:t>.</a:t>
            </a:r>
          </a:p>
        </p:txBody>
      </p:sp>
      <p:pic>
        <p:nvPicPr>
          <p:cNvPr id="7" name="Picture 6" descr="fase_a_eda_c2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213901"/>
            <a:ext cx="6613855" cy="32531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FASE A · EXPLORACIÓN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Ninguna variable sola explica la hospitalización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Grupo 4 · Dengue en Colombia 2022-2025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184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Las correlaciones con la hospitalización son </a:t>
            </a:r>
            <a:r>
              <a:rPr sz="1800" b="1">
                <a:solidFill>
                  <a:srgbClr val="B91C1C"/>
                </a:solidFill>
                <a:latin typeface="Calibri"/>
              </a:rPr>
              <a:t>casi cero</a:t>
            </a:r>
            <a:r>
              <a:rPr sz="1800" b="0">
                <a:solidFill>
                  <a:srgbClr val="1F2937"/>
                </a:solidFill>
                <a:latin typeface="Calibri"/>
              </a:rPr>
              <a:t> (edad −0.03, semana ≈ 0).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Solo el año pesa un poco (−0.11): </a:t>
            </a:r>
            <a:r>
              <a:rPr sz="1800" b="1">
                <a:solidFill>
                  <a:srgbClr val="B91C1C"/>
                </a:solidFill>
                <a:latin typeface="Calibri"/>
              </a:rPr>
              <a:t>la hospitalización bajó</a:t>
            </a:r>
            <a:r>
              <a:rPr sz="1800" b="0">
                <a:solidFill>
                  <a:srgbClr val="1F2937"/>
                </a:solidFill>
                <a:latin typeface="Calibri"/>
              </a:rPr>
              <a:t> en los años recientes.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Ojo: casi cero no significa que la edad no importe; su efecto es en </a:t>
            </a:r>
            <a:r>
              <a:rPr sz="1800" b="1">
                <a:solidFill>
                  <a:srgbClr val="B91C1C"/>
                </a:solidFill>
                <a:latin typeface="Calibri"/>
              </a:rPr>
              <a:t>U</a:t>
            </a:r>
            <a:r>
              <a:rPr sz="1800" b="0">
                <a:solidFill>
                  <a:srgbClr val="1F2937"/>
                </a:solidFill>
                <a:latin typeface="Calibri"/>
              </a:rPr>
              <a:t>, no en línea recta.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Por eso los modelos </a:t>
            </a:r>
            <a:r>
              <a:rPr sz="1800" b="1">
                <a:solidFill>
                  <a:srgbClr val="B91C1C"/>
                </a:solidFill>
                <a:latin typeface="Calibri"/>
              </a:rPr>
              <a:t>combinan varias variables</a:t>
            </a:r>
            <a:r>
              <a:rPr sz="1800" b="0">
                <a:solidFill>
                  <a:srgbClr val="1F2937"/>
                </a:solidFill>
                <a:latin typeface="Calibri"/>
              </a:rPr>
              <a:t>.</a:t>
            </a:r>
          </a:p>
        </p:txBody>
      </p:sp>
      <p:pic>
        <p:nvPicPr>
          <p:cNvPr id="7" name="Picture 6" descr="fase_a_eda_c1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068" y="3538728"/>
            <a:ext cx="7127559" cy="27249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FASE B · LIMPIEZA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Qué problemas tenían los datos y qué hicimos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Grupo 4 · Dengue en Colombia 2022-2025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10911535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194560"/>
                <a:gridCol w="5059375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Calibri"/>
                        </a:rPr>
                        <a:t>Problema</a:t>
                      </a:r>
                    </a:p>
                  </a:txBody>
                  <a:tcPr marL="91440" marR="9144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F2937"/>
                          </a:solidFill>
                          <a:latin typeface="Calibri"/>
                        </a:rPr>
                        <a:t>Cuántos</a:t>
                      </a:r>
                    </a:p>
                  </a:txBody>
                  <a:tcPr marL="91440" marR="9144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Calibri"/>
                        </a:rPr>
                        <a:t>Decisión</a:t>
                      </a:r>
                    </a:p>
                  </a:txBody>
                  <a:tcPr marL="91440" marR="91440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Estrato vacío o "SIN DATO"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23,504 (4%)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Se rellenó con los casos más parecidos (KNN)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Edad en meses, días u horas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8,580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Se pasó todo a años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Edades de más de 100 años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Se trataron como dato faltante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Filas repetidas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20,454 (3.5%)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Se conservaron: pueden ser pacientes distintos con el mismo perfil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Mayores de 67 años (atípicos)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22,816 (3.9%)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Se conservaron: son reales y se hospitalizan más (46%)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Datos que se llenan después del caso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AJUSTE, estado final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Se quitaron: "adelantan" el resultado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FASE B ·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Cómo preparamos los datos sin hacer trampa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Grupo 4 · Dengue en Colombia 2022-2025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76072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Primero se separó </a:t>
            </a:r>
            <a:r>
              <a:rPr sz="1900" b="1">
                <a:solidFill>
                  <a:srgbClr val="B91C1C"/>
                </a:solidFill>
                <a:latin typeface="Calibri"/>
              </a:rPr>
              <a:t>80% para entrenar</a:t>
            </a:r>
            <a:r>
              <a:rPr sz="1900" b="0">
                <a:solidFill>
                  <a:srgbClr val="1F2937"/>
                </a:solidFill>
                <a:latin typeface="Calibri"/>
              </a:rPr>
              <a:t> y </a:t>
            </a:r>
            <a:r>
              <a:rPr sz="1900" b="1">
                <a:solidFill>
                  <a:srgbClr val="B91C1C"/>
                </a:solidFill>
                <a:latin typeface="Calibri"/>
              </a:rPr>
              <a:t>20% para probar</a:t>
            </a:r>
            <a:r>
              <a:rPr sz="1900" b="0">
                <a:solidFill>
                  <a:srgbClr val="1F2937"/>
                </a:solidFill>
                <a:latin typeface="Calibri"/>
              </a:rPr>
              <a:t> (misma proporción de hospitalizados).</a:t>
            </a:r>
          </a:p>
          <a:p>
            <a:pPr algn="l"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Todo lo que "aprende" de los datos se calculó </a:t>
            </a:r>
            <a:r>
              <a:rPr sz="1900" b="1">
                <a:solidFill>
                  <a:srgbClr val="B91C1C"/>
                </a:solidFill>
                <a:latin typeface="Calibri"/>
              </a:rPr>
              <a:t>solo con el 80%</a:t>
            </a:r>
            <a:r>
              <a:rPr sz="1900" b="0">
                <a:solidFill>
                  <a:srgbClr val="1F2937"/>
                </a:solidFill>
                <a:latin typeface="Calibri"/>
              </a:rPr>
              <a:t> de entrenamiento.</a:t>
            </a:r>
          </a:p>
          <a:p>
            <a:pPr algn="l"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Se comprobó que el conjunto de prueba </a:t>
            </a:r>
            <a:r>
              <a:rPr sz="1900" b="1">
                <a:solidFill>
                  <a:srgbClr val="B91C1C"/>
                </a:solidFill>
                <a:latin typeface="Calibri"/>
              </a:rPr>
              <a:t>nunca se usó</a:t>
            </a:r>
            <a:r>
              <a:rPr sz="1900" b="0">
                <a:solidFill>
                  <a:srgbClr val="1F2937"/>
                </a:solidFill>
                <a:latin typeface="Calibri"/>
              </a:rPr>
              <a:t> antes de la evaluación final.</a:t>
            </a:r>
          </a:p>
          <a:p>
            <a:pPr algn="l"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Resultado: archivo </a:t>
            </a:r>
            <a:r>
              <a:rPr sz="1900" b="1">
                <a:solidFill>
                  <a:srgbClr val="B91C1C"/>
                </a:solidFill>
                <a:latin typeface="Calibri"/>
              </a:rPr>
              <a:t>datos_limpios.parquet</a:t>
            </a:r>
            <a:r>
              <a:rPr sz="1900" b="0">
                <a:solidFill>
                  <a:srgbClr val="1F2937"/>
                </a:solidFill>
                <a:latin typeface="Calibri"/>
              </a:rPr>
              <a:t> con 63 columnas y sin datos faltantes.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6459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Rellenar el estrato faltante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2148840"/>
          <a:ext cx="466344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00584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 marL="91440" marR="9144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Acierta</a:t>
                      </a:r>
                    </a:p>
                  </a:txBody>
                  <a:tcPr marL="91440" marR="9144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Error medio</a:t>
                      </a:r>
                    </a:p>
                  </a:txBody>
                  <a:tcPr marL="91440" marR="91440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Usar siempre el más común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48.1%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0.74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B91C1C"/>
                          </a:solidFill>
                          <a:latin typeface="Calibri"/>
                        </a:rPr>
                        <a:t>Casos más parecidos (KNN)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B91C1C"/>
                          </a:solidFill>
                          <a:latin typeface="Calibri"/>
                        </a:rPr>
                        <a:t>56.0%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B91C1C"/>
                          </a:solidFill>
                          <a:latin typeface="Calibri"/>
                        </a:rPr>
                        <a:t>0.53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0" y="3520440"/>
            <a:ext cx="46634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•  Edad y tamaño del municipio estaban muy sesgados: se </a:t>
            </a:r>
            <a:r>
              <a:rPr sz="1600" b="1">
                <a:solidFill>
                  <a:srgbClr val="B91C1C"/>
                </a:solidFill>
                <a:latin typeface="Calibri"/>
              </a:rPr>
              <a:t>transformaron</a:t>
            </a:r>
            <a:r>
              <a:rPr sz="1600" b="0">
                <a:solidFill>
                  <a:srgbClr val="6B7280"/>
                </a:solidFill>
                <a:latin typeface="Calibri"/>
              </a:rPr>
              <a:t> para equilibrarlos.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•  La semana se trató como un </a:t>
            </a:r>
            <a:r>
              <a:rPr sz="1600" b="1">
                <a:solidFill>
                  <a:srgbClr val="B91C1C"/>
                </a:solidFill>
                <a:latin typeface="Calibri"/>
              </a:rPr>
              <a:t>ciclo</a:t>
            </a:r>
            <a:r>
              <a:rPr sz="1600" b="0">
                <a:solidFill>
                  <a:srgbClr val="6B7280"/>
                </a:solidFill>
                <a:latin typeface="Calibri"/>
              </a:rPr>
              <a:t> (la 52 queda junto a la 1).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FASE C ·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Tres modelos para predecir la hospitalización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Grupo 4 · Dengue en Colombia 2022-2025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6400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51560"/>
                <a:gridCol w="1325880"/>
                <a:gridCol w="82296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91440" marR="9144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Aciertos</a:t>
                      </a:r>
                    </a:p>
                  </a:txBody>
                  <a:tcPr marL="91440" marR="9144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Detecta hosp.</a:t>
                      </a:r>
                    </a:p>
                  </a:txBody>
                  <a:tcPr marL="91440" marR="9144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91440" marR="9144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Tiempo</a:t>
                      </a:r>
                    </a:p>
                  </a:txBody>
                  <a:tcPr marL="91440" marR="91440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B91C1C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B91C1C"/>
                          </a:solidFill>
                          <a:latin typeface="Calibri"/>
                        </a:rPr>
                        <a:t>64.6%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B91C1C"/>
                          </a:solidFill>
                          <a:latin typeface="Calibri"/>
                        </a:rPr>
                        <a:t>59.2%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B91C1C"/>
                          </a:solidFill>
                          <a:latin typeface="Calibri"/>
                        </a:rPr>
                        <a:t>0.690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B91C1C"/>
                          </a:solidFill>
                          <a:latin typeface="Calibri"/>
                        </a:rPr>
                        <a:t>597 s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Árbol de Decisión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63.0%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56.3%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0.663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124 s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Regresión Logística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62.3%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57.5%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0.663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84 s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Adivinar siempre "no"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61.6%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863840" y="1645920"/>
            <a:ext cx="368777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</a:t>
            </a:r>
            <a:r>
              <a:rPr sz="1700" b="1">
                <a:solidFill>
                  <a:srgbClr val="B91C1C"/>
                </a:solidFill>
                <a:latin typeface="Calibri"/>
              </a:rPr>
              <a:t>AUC</a:t>
            </a:r>
            <a:r>
              <a:rPr sz="1700" b="0">
                <a:solidFill>
                  <a:srgbClr val="1F2937"/>
                </a:solidFill>
                <a:latin typeface="Calibri"/>
              </a:rPr>
              <a:t>: qué tan bien separa hospitalizados de no hospitalizados (0.5 = azar, 1 = perfecto).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Ganó </a:t>
            </a:r>
            <a:r>
              <a:rPr sz="1700" b="1">
                <a:solidFill>
                  <a:srgbClr val="B91C1C"/>
                </a:solidFill>
                <a:latin typeface="Calibri"/>
              </a:rPr>
              <a:t>Random Forest</a:t>
            </a:r>
            <a:r>
              <a:rPr sz="1700" b="0">
                <a:solidFill>
                  <a:srgbClr val="1F2937"/>
                </a:solidFill>
                <a:latin typeface="Calibri"/>
              </a:rPr>
              <a:t> en casi todo, aunque tarda </a:t>
            </a:r>
            <a:r>
              <a:rPr sz="1700" b="1">
                <a:solidFill>
                  <a:srgbClr val="B91C1C"/>
                </a:solidFill>
                <a:latin typeface="Calibri"/>
              </a:rPr>
              <a:t>7 veces más</a:t>
            </a:r>
            <a:r>
              <a:rPr sz="1700" b="0">
                <a:solidFill>
                  <a:srgbClr val="1F2937"/>
                </a:solidFill>
                <a:latin typeface="Calibri"/>
              </a:rPr>
              <a:t> en entrenar (se entrena una sola vez).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Regresión Logística queda como opción rápida y </a:t>
            </a:r>
            <a:r>
              <a:rPr sz="1700" b="1">
                <a:solidFill>
                  <a:srgbClr val="B91C1C"/>
                </a:solidFill>
                <a:latin typeface="Calibri"/>
              </a:rPr>
              <a:t>fácil de explicar</a:t>
            </a:r>
            <a:r>
              <a:rPr sz="1700" b="0">
                <a:solidFill>
                  <a:srgbClr val="1F293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FASE C ·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Comparación de las métricas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Grupo 4 · Dengue en Colombia 2022-2025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</a:t>
            </a:r>
            <a:r>
              <a:rPr sz="1800" b="1">
                <a:solidFill>
                  <a:srgbClr val="B91C1C"/>
                </a:solidFill>
                <a:latin typeface="Calibri"/>
              </a:rPr>
              <a:t>Precision</a:t>
            </a:r>
            <a:r>
              <a:rPr sz="1800" b="0">
                <a:solidFill>
                  <a:srgbClr val="1F2937"/>
                </a:solidFill>
                <a:latin typeface="Calibri"/>
              </a:rPr>
              <a:t>: de las alertas que da el modelo, cuántas eran hospitalizaciones reales.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</a:t>
            </a:r>
            <a:r>
              <a:rPr sz="1800" b="1">
                <a:solidFill>
                  <a:srgbClr val="B91C1C"/>
                </a:solidFill>
                <a:latin typeface="Calibri"/>
              </a:rPr>
              <a:t>Recall</a:t>
            </a:r>
            <a:r>
              <a:rPr sz="1800" b="0">
                <a:solidFill>
                  <a:srgbClr val="1F2937"/>
                </a:solidFill>
                <a:latin typeface="Calibri"/>
              </a:rPr>
              <a:t>: de los hospitalizados reales, cuántos detecta el modelo.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No hay ganador absoluto: depende de qué error cuesta más. Random Forest es el más parejo.</a:t>
            </a:r>
          </a:p>
        </p:txBody>
      </p:sp>
      <p:pic>
        <p:nvPicPr>
          <p:cNvPr id="7" name="Picture 6" descr="fase_c_modelos_c2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900" y="3099816"/>
            <a:ext cx="7037894" cy="31638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FASE C ·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Curvas ROC: los tres superan al azar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Grupo 4 · Dengue en Colombia 2022-2025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023360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Mientras más arriba está la curva, </a:t>
            </a:r>
            <a:r>
              <a:rPr sz="1900" b="1">
                <a:solidFill>
                  <a:srgbClr val="B91C1C"/>
                </a:solidFill>
                <a:latin typeface="Calibri"/>
              </a:rPr>
              <a:t>mejor separa</a:t>
            </a:r>
            <a:r>
              <a:rPr sz="1900" b="0">
                <a:solidFill>
                  <a:srgbClr val="1F2937"/>
                </a:solidFill>
                <a:latin typeface="Calibri"/>
              </a:rPr>
              <a:t> los dos grupos.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Random Forest (verde) queda por encima: </a:t>
            </a:r>
            <a:r>
              <a:rPr sz="1900" b="1">
                <a:solidFill>
                  <a:srgbClr val="B91C1C"/>
                </a:solidFill>
                <a:latin typeface="Calibri"/>
              </a:rPr>
              <a:t>AUC 0.690</a:t>
            </a:r>
            <a:r>
              <a:rPr sz="1900" b="0">
                <a:solidFill>
                  <a:srgbClr val="1F2937"/>
                </a:solidFill>
                <a:latin typeface="Calibri"/>
              </a:rPr>
              <a:t>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Un AUC cercano a 0.70 es </a:t>
            </a:r>
            <a:r>
              <a:rPr sz="1900" b="1">
                <a:solidFill>
                  <a:srgbClr val="B91C1C"/>
                </a:solidFill>
                <a:latin typeface="Calibri"/>
              </a:rPr>
              <a:t>útil pero moderado</a:t>
            </a:r>
            <a:r>
              <a:rPr sz="1900" b="0">
                <a:solidFill>
                  <a:srgbClr val="1F2937"/>
                </a:solidFill>
                <a:latin typeface="Calibri"/>
              </a:rPr>
              <a:t>: sirve para priorizar, no para decidir.</a:t>
            </a:r>
          </a:p>
        </p:txBody>
      </p:sp>
      <p:pic>
        <p:nvPicPr>
          <p:cNvPr id="7" name="Picture 6" descr="fase_c_modelos_c2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781"/>
            <a:ext cx="6613855" cy="438939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FASE C ·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Dónde acierta y dónde se equivoca cada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Grupo 4 · Dengue en Colombia 2022-2025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Random Forest detecta </a:t>
            </a:r>
            <a:r>
              <a:rPr sz="1800" b="1">
                <a:solidFill>
                  <a:srgbClr val="B91C1C"/>
                </a:solidFill>
                <a:latin typeface="Calibri"/>
              </a:rPr>
              <a:t>26,425</a:t>
            </a:r>
            <a:r>
              <a:rPr sz="1800" b="0">
                <a:solidFill>
                  <a:srgbClr val="1F2937"/>
                </a:solidFill>
                <a:latin typeface="Calibri"/>
              </a:rPr>
              <a:t> de 44,672 hospitalizados de prueba, el que más.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El error más delicado: hospitalizados que el modelo dice que no (</a:t>
            </a:r>
            <a:r>
              <a:rPr sz="1800" b="1">
                <a:solidFill>
                  <a:srgbClr val="B91C1C"/>
                </a:solidFill>
                <a:latin typeface="Calibri"/>
              </a:rPr>
              <a:t>18,247</a:t>
            </a:r>
            <a:r>
              <a:rPr sz="1800" b="0">
                <a:solidFill>
                  <a:srgbClr val="1F2937"/>
                </a:solidFill>
                <a:latin typeface="Calibri"/>
              </a:rPr>
              <a:t> en Random Forest).</a:t>
            </a:r>
          </a:p>
        </p:txBody>
      </p:sp>
      <p:pic>
        <p:nvPicPr>
          <p:cNvPr id="7" name="Picture 6" descr="fase_c_modelos_c17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3000905"/>
            <a:ext cx="10911535" cy="29227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FASE C ·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¿En qué se fija el modelo?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Grupo 4 · Dengue en Colombia 2022-2025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023360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Lo que más usa: </a:t>
            </a:r>
            <a:r>
              <a:rPr sz="1900" b="1">
                <a:solidFill>
                  <a:srgbClr val="B91C1C"/>
                </a:solidFill>
                <a:latin typeface="Calibri"/>
              </a:rPr>
              <a:t>año</a:t>
            </a:r>
            <a:r>
              <a:rPr sz="1900" b="0">
                <a:solidFill>
                  <a:srgbClr val="1F2937"/>
                </a:solidFill>
                <a:latin typeface="Calibri"/>
              </a:rPr>
              <a:t>, </a:t>
            </a:r>
            <a:r>
              <a:rPr sz="1900" b="1">
                <a:solidFill>
                  <a:srgbClr val="B91C1C"/>
                </a:solidFill>
                <a:latin typeface="Calibri"/>
              </a:rPr>
              <a:t>edad</a:t>
            </a:r>
            <a:r>
              <a:rPr sz="1900" b="0">
                <a:solidFill>
                  <a:srgbClr val="1F2937"/>
                </a:solidFill>
                <a:latin typeface="Calibri"/>
              </a:rPr>
              <a:t>, </a:t>
            </a:r>
            <a:r>
              <a:rPr sz="1900" b="1">
                <a:solidFill>
                  <a:srgbClr val="B91C1C"/>
                </a:solidFill>
                <a:latin typeface="Calibri"/>
              </a:rPr>
              <a:t>tipo de caso al notificar</a:t>
            </a:r>
            <a:r>
              <a:rPr sz="1900" b="0">
                <a:solidFill>
                  <a:srgbClr val="1F2937"/>
                </a:solidFill>
                <a:latin typeface="Calibri"/>
              </a:rPr>
              <a:t> y </a:t>
            </a:r>
            <a:r>
              <a:rPr sz="1900" b="1">
                <a:solidFill>
                  <a:srgbClr val="B91C1C"/>
                </a:solidFill>
                <a:latin typeface="Calibri"/>
              </a:rPr>
              <a:t>departamento</a:t>
            </a:r>
            <a:r>
              <a:rPr sz="1900" b="0">
                <a:solidFill>
                  <a:srgbClr val="1F2937"/>
                </a:solidFill>
                <a:latin typeface="Calibri"/>
              </a:rPr>
              <a:t> (Cesar, Valle).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Al "desordenar" cada variable, la que más empeora el modelo es el </a:t>
            </a:r>
            <a:r>
              <a:rPr sz="1900" b="1">
                <a:solidFill>
                  <a:srgbClr val="B91C1C"/>
                </a:solidFill>
                <a:latin typeface="Calibri"/>
              </a:rPr>
              <a:t>departamento</a:t>
            </a:r>
            <a:r>
              <a:rPr sz="1900" b="0">
                <a:solidFill>
                  <a:srgbClr val="1F2937"/>
                </a:solidFill>
                <a:latin typeface="Calibri"/>
              </a:rPr>
              <a:t>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Son señales que ayudan a predecir, </a:t>
            </a:r>
            <a:r>
              <a:rPr sz="1900" b="1">
                <a:solidFill>
                  <a:srgbClr val="B91C1C"/>
                </a:solidFill>
                <a:latin typeface="Calibri"/>
              </a:rPr>
              <a:t>no causas</a:t>
            </a:r>
            <a:r>
              <a:rPr sz="1900" b="0">
                <a:solidFill>
                  <a:srgbClr val="1F2937"/>
                </a:solidFill>
                <a:latin typeface="Calibri"/>
              </a:rPr>
              <a:t> de la hospitalización.</a:t>
            </a:r>
          </a:p>
        </p:txBody>
      </p:sp>
      <p:pic>
        <p:nvPicPr>
          <p:cNvPr id="7" name="Picture 6" descr="fase_c_modelos_c2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7" y="1554480"/>
            <a:ext cx="6553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FASE C ·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Ajustar el umbral para no perder pacientes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Grupo 4 · Dengue en Colombia 2022-2025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023360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Por defecto el modelo alerta si la probabilidad pasa de 0.5.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Bajando el umbral a </a:t>
            </a:r>
            <a:r>
              <a:rPr sz="1900" b="1">
                <a:solidFill>
                  <a:srgbClr val="B91C1C"/>
                </a:solidFill>
                <a:latin typeface="Calibri"/>
              </a:rPr>
              <a:t>0.45</a:t>
            </a:r>
            <a:r>
              <a:rPr sz="1900" b="0">
                <a:solidFill>
                  <a:srgbClr val="1F2937"/>
                </a:solidFill>
                <a:latin typeface="Calibri"/>
              </a:rPr>
              <a:t> detecta el </a:t>
            </a:r>
            <a:r>
              <a:rPr sz="1900" b="1">
                <a:solidFill>
                  <a:srgbClr val="B91C1C"/>
                </a:solidFill>
                <a:latin typeface="Calibri"/>
              </a:rPr>
              <a:t>78%</a:t>
            </a:r>
            <a:r>
              <a:rPr sz="1900" b="0">
                <a:solidFill>
                  <a:srgbClr val="1F2937"/>
                </a:solidFill>
                <a:latin typeface="Calibri"/>
              </a:rPr>
              <a:t> de los hospitalizados (antes 59%).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A cambio, solo el </a:t>
            </a:r>
            <a:r>
              <a:rPr sz="1900" b="1">
                <a:solidFill>
                  <a:srgbClr val="B91C1C"/>
                </a:solidFill>
                <a:latin typeface="Calibri"/>
              </a:rPr>
              <a:t>48%</a:t>
            </a:r>
            <a:r>
              <a:rPr sz="1900" b="0">
                <a:solidFill>
                  <a:srgbClr val="1F2937"/>
                </a:solidFill>
                <a:latin typeface="Calibri"/>
              </a:rPr>
              <a:t> de las alertas son hospitalizaciones reales.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El umbral se eligió sin mirar los datos de prueba.</a:t>
            </a:r>
          </a:p>
        </p:txBody>
      </p:sp>
      <p:pic>
        <p:nvPicPr>
          <p:cNvPr id="7" name="Picture 6" descr="fase_c_modelos_c3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772" y="1554480"/>
            <a:ext cx="612183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FASE C ·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¿Funciona con datos del futuro?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Grupo 4 · Dengue en Colombia 2022-2025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Hospitalización registrada por año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48840"/>
          <a:ext cx="48463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Año</a:t>
                      </a:r>
                    </a:p>
                  </a:txBody>
                  <a:tcPr marL="91440" marR="9144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Casos</a:t>
                      </a:r>
                    </a:p>
                  </a:txBody>
                  <a:tcPr marL="91440" marR="9144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Hospitalizados</a:t>
                      </a:r>
                    </a:p>
                  </a:txBody>
                  <a:tcPr marL="91440" marR="91440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63,076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52.8%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113,314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44.6%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292,384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33.6%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112,297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36.8%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343400"/>
            <a:ext cx="4846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Entrenando con 2022-2024 y probando en </a:t>
            </a:r>
            <a:r>
              <a:rPr sz="1600" b="1">
                <a:solidFill>
                  <a:srgbClr val="B91C1C"/>
                </a:solidFill>
                <a:latin typeface="Calibri"/>
              </a:rPr>
              <a:t>2025</a:t>
            </a:r>
            <a:r>
              <a:rPr sz="1600" b="0">
                <a:solidFill>
                  <a:srgbClr val="1F2937"/>
                </a:solidFill>
                <a:latin typeface="Calibri"/>
              </a:rPr>
              <a:t>, el AUC baja de </a:t>
            </a:r>
            <a:r>
              <a:rPr sz="1600" b="1">
                <a:solidFill>
                  <a:srgbClr val="B91C1C"/>
                </a:solidFill>
                <a:latin typeface="Calibri"/>
              </a:rPr>
              <a:t>0.690 a 0.669</a:t>
            </a:r>
            <a:r>
              <a:rPr sz="1600" b="0">
                <a:solidFill>
                  <a:srgbClr val="1F2937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Los datos cambian con los años: el modelo hay que </a:t>
            </a:r>
            <a:r>
              <a:rPr sz="1600" b="1">
                <a:solidFill>
                  <a:srgbClr val="B91C1C"/>
                </a:solidFill>
                <a:latin typeface="Calibri"/>
              </a:rPr>
              <a:t>actualizarlo</a:t>
            </a:r>
            <a:r>
              <a:rPr sz="1600" b="0">
                <a:solidFill>
                  <a:srgbClr val="1F2937"/>
                </a:solidFill>
                <a:latin typeface="Calibri"/>
              </a:rPr>
              <a:t>.</a:t>
            </a:r>
          </a:p>
        </p:txBody>
      </p:sp>
      <p:pic>
        <p:nvPicPr>
          <p:cNvPr id="9" name="Picture 8" descr="fase_c_modelos_c39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152815"/>
            <a:ext cx="3840480" cy="3283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66960" y="2103120"/>
            <a:ext cx="1645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Las probabilidades del modelo salen </a:t>
            </a:r>
            <a:r>
              <a:rPr sz="1400" b="1">
                <a:solidFill>
                  <a:srgbClr val="B91C1C"/>
                </a:solidFill>
                <a:latin typeface="Calibri"/>
              </a:rPr>
              <a:t>algo infladas</a:t>
            </a:r>
            <a:r>
              <a:rPr sz="1400" b="0">
                <a:solidFill>
                  <a:srgbClr val="6B7280"/>
                </a:solidFill>
                <a:latin typeface="Calibri"/>
              </a:rPr>
              <a:t>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Sirven para </a:t>
            </a:r>
            <a:r>
              <a:rPr sz="1400" b="1">
                <a:solidFill>
                  <a:srgbClr val="B91C1C"/>
                </a:solidFill>
                <a:latin typeface="Calibri"/>
              </a:rPr>
              <a:t>ordenar</a:t>
            </a:r>
            <a:r>
              <a:rPr sz="1400" b="0">
                <a:solidFill>
                  <a:srgbClr val="6B7280"/>
                </a:solidFill>
                <a:latin typeface="Calibri"/>
              </a:rPr>
              <a:t> pacientes, no como porcentaje exacto.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FASE C · SEGMENTACIÓN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Agrupar pacientes parecidos: ¿cuántos grupos?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Grupo 4 · Dengue en Colombia 2022-2025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Se usó </a:t>
            </a:r>
            <a:r>
              <a:rPr sz="1800" b="1">
                <a:solidFill>
                  <a:srgbClr val="B91C1C"/>
                </a:solidFill>
                <a:latin typeface="Calibri"/>
              </a:rPr>
              <a:t>K-Means</a:t>
            </a:r>
            <a:r>
              <a:rPr sz="1800" b="0">
                <a:solidFill>
                  <a:srgbClr val="1F2937"/>
                </a:solidFill>
                <a:latin typeface="Calibri"/>
              </a:rPr>
              <a:t> con edad, estrato, régimen de salud, zona y tamaño del municipio.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Se eligieron </a:t>
            </a:r>
            <a:r>
              <a:rPr sz="1800" b="1">
                <a:solidFill>
                  <a:srgbClr val="B91C1C"/>
                </a:solidFill>
                <a:latin typeface="Calibri"/>
              </a:rPr>
              <a:t>4 grupos</a:t>
            </a:r>
            <a:r>
              <a:rPr sz="1800" b="0">
                <a:solidFill>
                  <a:srgbClr val="1F2937"/>
                </a:solidFill>
                <a:latin typeface="Calibri"/>
              </a:rPr>
              <a:t>: desde ahí agregar más grupos casi no mejora (método del codo).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Los grupos no están muy separados: son </a:t>
            </a:r>
            <a:r>
              <a:rPr sz="1800" b="1">
                <a:solidFill>
                  <a:srgbClr val="B91C1C"/>
                </a:solidFill>
                <a:latin typeface="Calibri"/>
              </a:rPr>
              <a:t>cortes de un continuo</a:t>
            </a:r>
            <a:r>
              <a:rPr sz="1800" b="0">
                <a:solidFill>
                  <a:srgbClr val="1F2937"/>
                </a:solidFill>
                <a:latin typeface="Calibri"/>
              </a:rPr>
              <a:t>, útiles para planear.</a:t>
            </a:r>
          </a:p>
        </p:txBody>
      </p:sp>
      <p:pic>
        <p:nvPicPr>
          <p:cNvPr id="7" name="Picture 6" descr="fase_c_modelos_c4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3819"/>
            <a:ext cx="10911535" cy="30558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FASE C · SEGMENTACIÓN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Los 4 segmentos de pacientes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Grupo 4 · Dengue en Colombia 2022-2025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  <p:pic>
        <p:nvPicPr>
          <p:cNvPr id="6" name="Picture 5" descr="fase_c_modelos_c5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132" y="1417320"/>
            <a:ext cx="5784870" cy="4983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91640"/>
            <a:ext cx="42062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Se forman por dos cosas: </a:t>
            </a:r>
            <a:r>
              <a:rPr sz="1700" b="1">
                <a:solidFill>
                  <a:srgbClr val="B91C1C"/>
                </a:solidFill>
                <a:latin typeface="Calibri"/>
              </a:rPr>
              <a:t>edad</a:t>
            </a:r>
            <a:r>
              <a:rPr sz="1700" b="0">
                <a:solidFill>
                  <a:srgbClr val="1F2937"/>
                </a:solidFill>
                <a:latin typeface="Calibri"/>
              </a:rPr>
              <a:t> (niños o adultos) y </a:t>
            </a:r>
            <a:r>
              <a:rPr sz="1700" b="1">
                <a:solidFill>
                  <a:srgbClr val="B91C1C"/>
                </a:solidFill>
                <a:latin typeface="Calibri"/>
              </a:rPr>
              <a:t>tamaño del municipio</a:t>
            </a:r>
            <a:r>
              <a:rPr sz="1700" b="0">
                <a:solidFill>
                  <a:srgbClr val="1F2937"/>
                </a:solidFill>
                <a:latin typeface="Calibri"/>
              </a:rPr>
              <a:t>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</a:t>
            </a:r>
            <a:r>
              <a:rPr sz="1700" b="1">
                <a:solidFill>
                  <a:srgbClr val="B91C1C"/>
                </a:solidFill>
                <a:latin typeface="Calibri"/>
              </a:rPr>
              <a:t>Niños de municipios pequeños</a:t>
            </a:r>
            <a:r>
              <a:rPr sz="1700" b="0">
                <a:solidFill>
                  <a:srgbClr val="1F2937"/>
                </a:solidFill>
                <a:latin typeface="Calibri"/>
              </a:rPr>
              <a:t> (28% de casos): se hospitalizan el </a:t>
            </a:r>
            <a:r>
              <a:rPr sz="1700" b="1">
                <a:solidFill>
                  <a:srgbClr val="B91C1C"/>
                </a:solidFill>
                <a:latin typeface="Calibri"/>
              </a:rPr>
              <a:t>45%</a:t>
            </a:r>
            <a:r>
              <a:rPr sz="1700" b="0">
                <a:solidFill>
                  <a:srgbClr val="1F2937"/>
                </a:solidFill>
                <a:latin typeface="Calibri"/>
              </a:rPr>
              <a:t>, el grupo prioritario.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Niños de ciudades grandes: 38%. Adultos de municipios pequeños: 37%.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</a:t>
            </a:r>
            <a:r>
              <a:rPr sz="1700" b="1">
                <a:solidFill>
                  <a:srgbClr val="B91C1C"/>
                </a:solidFill>
                <a:latin typeface="Calibri"/>
              </a:rPr>
              <a:t>Adultos de ciudades grandes</a:t>
            </a:r>
            <a:r>
              <a:rPr sz="1700" b="0">
                <a:solidFill>
                  <a:srgbClr val="1F2937"/>
                </a:solidFill>
                <a:latin typeface="Calibri"/>
              </a:rPr>
              <a:t>: el que menos, </a:t>
            </a:r>
            <a:r>
              <a:rPr sz="1700" b="1">
                <a:solidFill>
                  <a:srgbClr val="B91C1C"/>
                </a:solidFill>
                <a:latin typeface="Calibri"/>
              </a:rPr>
              <a:t>33%</a:t>
            </a:r>
            <a:r>
              <a:rPr sz="1700" b="0">
                <a:solidFill>
                  <a:srgbClr val="1F2937"/>
                </a:solidFill>
                <a:latin typeface="Calibri"/>
              </a:rPr>
              <a:t>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En municipios pequeños predominan el régimen subsidiado, el estrato 1 y la zona rural.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FASE C · SEGMENTACIÓN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Los grupos vistos en un mapa de 2 dimensiones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Grupo 4 · Dengue en Colombia 2022-2025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023360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Con 2 ejes se resume el </a:t>
            </a:r>
            <a:r>
              <a:rPr sz="1900" b="1">
                <a:solidFill>
                  <a:srgbClr val="B91C1C"/>
                </a:solidFill>
                <a:latin typeface="Calibri"/>
              </a:rPr>
              <a:t>67%</a:t>
            </a:r>
            <a:r>
              <a:rPr sz="1900" b="0">
                <a:solidFill>
                  <a:srgbClr val="1F2937"/>
                </a:solidFill>
                <a:latin typeface="Calibri"/>
              </a:rPr>
              <a:t> de la información: </a:t>
            </a:r>
            <a:r>
              <a:rPr sz="1900" b="1">
                <a:solidFill>
                  <a:srgbClr val="B91C1C"/>
                </a:solidFill>
                <a:latin typeface="Calibri"/>
              </a:rPr>
              <a:t>tamaño del municipio</a:t>
            </a:r>
            <a:r>
              <a:rPr sz="1900" b="0">
                <a:solidFill>
                  <a:srgbClr val="1F2937"/>
                </a:solidFill>
                <a:latin typeface="Calibri"/>
              </a:rPr>
              <a:t> y </a:t>
            </a:r>
            <a:r>
              <a:rPr sz="1900" b="1">
                <a:solidFill>
                  <a:srgbClr val="B91C1C"/>
                </a:solidFill>
                <a:latin typeface="Calibri"/>
              </a:rPr>
              <a:t>edad</a:t>
            </a:r>
            <a:r>
              <a:rPr sz="1900" b="0">
                <a:solidFill>
                  <a:srgbClr val="1F2937"/>
                </a:solidFill>
                <a:latin typeface="Calibri"/>
              </a:rPr>
              <a:t>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Los 4 grupos aparecen como </a:t>
            </a:r>
            <a:r>
              <a:rPr sz="1900" b="1">
                <a:solidFill>
                  <a:srgbClr val="B91C1C"/>
                </a:solidFill>
                <a:latin typeface="Calibri"/>
              </a:rPr>
              <a:t>cuadrantes</a:t>
            </a:r>
            <a:r>
              <a:rPr sz="1900" b="0">
                <a:solidFill>
                  <a:srgbClr val="1F2937"/>
                </a:solidFill>
                <a:latin typeface="Calibri"/>
              </a:rPr>
              <a:t> de un mismo plano.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Otro método (jerárquico de Ward) encuentra una estructura parecida (coincidencia </a:t>
            </a:r>
            <a:r>
              <a:rPr sz="1900" b="1">
                <a:solidFill>
                  <a:srgbClr val="B91C1C"/>
                </a:solidFill>
                <a:latin typeface="Calibri"/>
              </a:rPr>
              <a:t>0.54</a:t>
            </a:r>
            <a:r>
              <a:rPr sz="1900" b="0">
                <a:solidFill>
                  <a:srgbClr val="1F2937"/>
                </a:solidFill>
                <a:latin typeface="Calibri"/>
              </a:rPr>
              <a:t>).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K-Means se queda: mejores métricas y funciona con los 581 mil casos.</a:t>
            </a:r>
          </a:p>
        </p:txBody>
      </p:sp>
      <p:pic>
        <p:nvPicPr>
          <p:cNvPr id="7" name="Picture 6" descr="fase_c_modelos_c5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781"/>
            <a:ext cx="6613855" cy="438939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FASE D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El modelo según cada segmento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Grupo 4 · Dengue en Colombia 2022-2025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El modelo </a:t>
            </a:r>
            <a:r>
              <a:rPr sz="1800" b="1">
                <a:solidFill>
                  <a:srgbClr val="B91C1C"/>
                </a:solidFill>
                <a:latin typeface="Calibri"/>
              </a:rPr>
              <a:t>ordena bien</a:t>
            </a:r>
            <a:r>
              <a:rPr sz="1800" b="0">
                <a:solidFill>
                  <a:srgbClr val="1F2937"/>
                </a:solidFill>
                <a:latin typeface="Calibri"/>
              </a:rPr>
              <a:t> los grupos: predice más donde más se hospitaliza (barras naranjas, ~10 puntos arriba).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Detecta el </a:t>
            </a:r>
            <a:r>
              <a:rPr sz="1800" b="1">
                <a:solidFill>
                  <a:srgbClr val="B91C1C"/>
                </a:solidFill>
                <a:latin typeface="Calibri"/>
              </a:rPr>
              <a:t>83%</a:t>
            </a:r>
            <a:r>
              <a:rPr sz="1800" b="0">
                <a:solidFill>
                  <a:srgbClr val="1F2937"/>
                </a:solidFill>
                <a:latin typeface="Calibri"/>
              </a:rPr>
              <a:t> de hospitalizados en niños de municipios pequeños, pero solo el </a:t>
            </a:r>
            <a:r>
              <a:rPr sz="1800" b="1">
                <a:solidFill>
                  <a:srgbClr val="B91C1C"/>
                </a:solidFill>
                <a:latin typeface="Calibri"/>
              </a:rPr>
              <a:t>43%</a:t>
            </a:r>
            <a:r>
              <a:rPr sz="1800" b="0">
                <a:solidFill>
                  <a:srgbClr val="1F2937"/>
                </a:solidFill>
                <a:latin typeface="Calibri"/>
              </a:rPr>
              <a:t> en adultos de ciudades grandes.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Recomendación: usar un </a:t>
            </a:r>
            <a:r>
              <a:rPr sz="1800" b="1">
                <a:solidFill>
                  <a:srgbClr val="B91C1C"/>
                </a:solidFill>
                <a:latin typeface="Calibri"/>
              </a:rPr>
              <a:t>umbral más bajo</a:t>
            </a:r>
            <a:r>
              <a:rPr sz="1800" b="0">
                <a:solidFill>
                  <a:srgbClr val="1F2937"/>
                </a:solidFill>
                <a:latin typeface="Calibri"/>
              </a:rPr>
              <a:t> para los adultos de ciudades grandes.</a:t>
            </a:r>
          </a:p>
        </p:txBody>
      </p:sp>
      <p:pic>
        <p:nvPicPr>
          <p:cNvPr id="7" name="Picture 6" descr="fase_c_modelos_c6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215" y="3099816"/>
            <a:ext cx="10023263" cy="316382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Lo más importante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Grupo 4 · Dengue en Colombia 2022-2025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B91C1C"/>
                </a:solidFill>
                <a:latin typeface="Calibri"/>
              </a:rPr>
              <a:t>581 mil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casos analizados
(2022-2025)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69164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B91C1C"/>
                </a:solidFill>
                <a:latin typeface="Calibri"/>
              </a:rPr>
              <a:t>38.4%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377440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fue hospitalizado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B91C1C"/>
                </a:solidFill>
                <a:latin typeface="Calibri"/>
              </a:rPr>
              <a:t>0.69-0.71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377440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AUC del mejor modelo
(Random Forest)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69164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B91C1C"/>
                </a:solidFill>
                <a:latin typeface="Calibri"/>
              </a:rPr>
              <a:t>45%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377440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hospitalización en niños
de municipios pequeños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1091153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El dengue golpea más a </a:t>
            </a:r>
            <a:r>
              <a:rPr sz="1900" b="1">
                <a:solidFill>
                  <a:srgbClr val="B91C1C"/>
                </a:solidFill>
                <a:latin typeface="Calibri"/>
              </a:rPr>
              <a:t>niños y jóvenes</a:t>
            </a:r>
            <a:r>
              <a:rPr sz="1900" b="0">
                <a:solidFill>
                  <a:srgbClr val="1F2937"/>
                </a:solidFill>
                <a:latin typeface="Calibri"/>
              </a:rPr>
              <a:t>, en </a:t>
            </a:r>
            <a:r>
              <a:rPr sz="1900" b="1">
                <a:solidFill>
                  <a:srgbClr val="B91C1C"/>
                </a:solidFill>
                <a:latin typeface="Calibri"/>
              </a:rPr>
              <a:t>pocos departamentos</a:t>
            </a:r>
            <a:r>
              <a:rPr sz="1900" b="0">
                <a:solidFill>
                  <a:srgbClr val="1F2937"/>
                </a:solidFill>
                <a:latin typeface="Calibri"/>
              </a:rPr>
              <a:t> (Valle) y con </a:t>
            </a:r>
            <a:r>
              <a:rPr sz="1900" b="1">
                <a:solidFill>
                  <a:srgbClr val="B91C1C"/>
                </a:solidFill>
                <a:latin typeface="Calibri"/>
              </a:rPr>
              <a:t>brotes</a:t>
            </a:r>
            <a:r>
              <a:rPr sz="1900" b="0">
                <a:solidFill>
                  <a:srgbClr val="1F2937"/>
                </a:solidFill>
                <a:latin typeface="Calibri"/>
              </a:rPr>
              <a:t> como el de 2024.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Se hospitalizan más los </a:t>
            </a:r>
            <a:r>
              <a:rPr sz="1900" b="1">
                <a:solidFill>
                  <a:srgbClr val="B91C1C"/>
                </a:solidFill>
                <a:latin typeface="Calibri"/>
              </a:rPr>
              <a:t>bebés y mayores de 70</a:t>
            </a:r>
            <a:r>
              <a:rPr sz="1900" b="0">
                <a:solidFill>
                  <a:srgbClr val="1F2937"/>
                </a:solidFill>
                <a:latin typeface="Calibri"/>
              </a:rPr>
              <a:t>; la hospitalización registrada </a:t>
            </a:r>
            <a:r>
              <a:rPr sz="1900" b="1">
                <a:solidFill>
                  <a:srgbClr val="B91C1C"/>
                </a:solidFill>
                <a:latin typeface="Calibri"/>
              </a:rPr>
              <a:t>bajó</a:t>
            </a:r>
            <a:r>
              <a:rPr sz="1900" b="0">
                <a:solidFill>
                  <a:srgbClr val="1F2937"/>
                </a:solidFill>
                <a:latin typeface="Calibri"/>
              </a:rPr>
              <a:t> de 53% (2022) a ~35%.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El modelo </a:t>
            </a:r>
            <a:r>
              <a:rPr sz="1900" b="1">
                <a:solidFill>
                  <a:srgbClr val="B91C1C"/>
                </a:solidFill>
                <a:latin typeface="Calibri"/>
              </a:rPr>
              <a:t>no sirve para decidir un caso</a:t>
            </a:r>
            <a:r>
              <a:rPr sz="1900" b="0">
                <a:solidFill>
                  <a:srgbClr val="1F2937"/>
                </a:solidFill>
                <a:latin typeface="Calibri"/>
              </a:rPr>
              <a:t>, pero sí para </a:t>
            </a:r>
            <a:r>
              <a:rPr sz="1900" b="1">
                <a:solidFill>
                  <a:srgbClr val="B91C1C"/>
                </a:solidFill>
                <a:latin typeface="Calibri"/>
              </a:rPr>
              <a:t>orientar recursos</a:t>
            </a:r>
            <a:r>
              <a:rPr sz="1900" b="0">
                <a:solidFill>
                  <a:srgbClr val="1F2937"/>
                </a:solidFill>
                <a:latin typeface="Calibri"/>
              </a:rPr>
              <a:t> hacia los grupos de mayor riesgo.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Recomendaciones y mejoras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Grupo 4 · Dengue en Colombia 2022-2025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Para salud pública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12064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Reforzar seguimiento y camas pediátricas en </a:t>
            </a:r>
            <a:r>
              <a:rPr sz="1700" b="1">
                <a:solidFill>
                  <a:srgbClr val="B91C1C"/>
                </a:solidFill>
                <a:latin typeface="Calibri"/>
              </a:rPr>
              <a:t>municipios pequeños</a:t>
            </a:r>
            <a:r>
              <a:rPr sz="1700" b="0">
                <a:solidFill>
                  <a:srgbClr val="1F2937"/>
                </a:solidFill>
                <a:latin typeface="Calibri"/>
              </a:rPr>
              <a:t> antes de la temporada alta.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En ciudades grandes: </a:t>
            </a:r>
            <a:r>
              <a:rPr sz="1700" b="1">
                <a:solidFill>
                  <a:srgbClr val="B91C1C"/>
                </a:solidFill>
                <a:latin typeface="Calibri"/>
              </a:rPr>
              <a:t>prevención</a:t>
            </a:r>
            <a:r>
              <a:rPr sz="1700" b="0">
                <a:solidFill>
                  <a:srgbClr val="1F2937"/>
                </a:solidFill>
                <a:latin typeface="Calibri"/>
              </a:rPr>
              <a:t> (control del mosquito) y atención ambulatoria.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Ajustar el umbral de alerta </a:t>
            </a:r>
            <a:r>
              <a:rPr sz="1700" b="1">
                <a:solidFill>
                  <a:srgbClr val="B91C1C"/>
                </a:solidFill>
                <a:latin typeface="Calibri"/>
              </a:rPr>
              <a:t>por segmento</a:t>
            </a:r>
            <a:r>
              <a:rPr sz="1700" b="0">
                <a:solidFill>
                  <a:srgbClr val="1F2937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Para mejorar el 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48840"/>
            <a:ext cx="5212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Agregar </a:t>
            </a:r>
            <a:r>
              <a:rPr sz="1700" b="1">
                <a:solidFill>
                  <a:srgbClr val="B91C1C"/>
                </a:solidFill>
                <a:latin typeface="Calibri"/>
              </a:rPr>
              <a:t>población DANE</a:t>
            </a:r>
            <a:r>
              <a:rPr sz="1700" b="0">
                <a:solidFill>
                  <a:srgbClr val="1F2937"/>
                </a:solidFill>
                <a:latin typeface="Calibri"/>
              </a:rPr>
              <a:t> (tasas reales), </a:t>
            </a:r>
            <a:r>
              <a:rPr sz="1700" b="1">
                <a:solidFill>
                  <a:srgbClr val="B91C1C"/>
                </a:solidFill>
                <a:latin typeface="Calibri"/>
              </a:rPr>
              <a:t>clima</a:t>
            </a:r>
            <a:r>
              <a:rPr sz="1700" b="0">
                <a:solidFill>
                  <a:srgbClr val="1F2937"/>
                </a:solidFill>
                <a:latin typeface="Calibri"/>
              </a:rPr>
              <a:t> y </a:t>
            </a:r>
            <a:r>
              <a:rPr sz="1700" b="1">
                <a:solidFill>
                  <a:srgbClr val="B91C1C"/>
                </a:solidFill>
                <a:latin typeface="Calibri"/>
              </a:rPr>
              <a:t>datos clínicos</a:t>
            </a:r>
            <a:r>
              <a:rPr sz="1700" b="0">
                <a:solidFill>
                  <a:srgbClr val="1F2937"/>
                </a:solidFill>
                <a:latin typeface="Calibri"/>
              </a:rPr>
              <a:t> (signos de alarma).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Validar siempre con </a:t>
            </a:r>
            <a:r>
              <a:rPr sz="1700" b="1">
                <a:solidFill>
                  <a:srgbClr val="B91C1C"/>
                </a:solidFill>
                <a:latin typeface="Calibri"/>
              </a:rPr>
              <a:t>años nuevos</a:t>
            </a:r>
            <a:r>
              <a:rPr sz="1700" b="0">
                <a:solidFill>
                  <a:srgbClr val="1F2937"/>
                </a:solidFill>
                <a:latin typeface="Calibri"/>
              </a:rPr>
              <a:t> por los cambios entre años.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Probar otros modelos (Gradient Boosting) y </a:t>
            </a:r>
            <a:r>
              <a:rPr sz="1700" b="1">
                <a:solidFill>
                  <a:srgbClr val="B91C1C"/>
                </a:solidFill>
                <a:latin typeface="Calibri"/>
              </a:rPr>
              <a:t>calibrar</a:t>
            </a:r>
            <a:r>
              <a:rPr sz="1700" b="0">
                <a:solidFill>
                  <a:srgbClr val="1F2937"/>
                </a:solidFill>
                <a:latin typeface="Calibri"/>
              </a:rPr>
              <a:t> las probabilidades.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Segmentar dando el mismo peso a sexo, etnia y grupos poblacionales.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4800" b="1">
                <a:solidFill>
                  <a:srgbClr val="1F2937"/>
                </a:solidFill>
                <a:latin typeface="Calibri"/>
              </a:rP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5661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0">
                <a:solidFill>
                  <a:srgbClr val="6B7280"/>
                </a:solidFill>
                <a:latin typeface="Calibri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